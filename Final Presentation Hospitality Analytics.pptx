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9" r:id="rId3"/>
    <p:sldId id="270" r:id="rId4"/>
    <p:sldId id="257" r:id="rId5"/>
    <p:sldId id="258" r:id="rId6"/>
    <p:sldId id="259" r:id="rId7"/>
    <p:sldId id="260" r:id="rId8"/>
    <p:sldId id="261" r:id="rId9"/>
    <p:sldId id="267" r:id="rId10"/>
    <p:sldId id="262" r:id="rId11"/>
    <p:sldId id="268" r:id="rId12"/>
    <p:sldId id="264" r:id="rId13"/>
    <p:sldId id="266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6B007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18-Nov-25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8736-CBBF-3B53-83B5-D1BE28C6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042226-8E48-5A2C-99BC-86C021E8B489}"/>
              </a:ext>
            </a:extLst>
          </p:cNvPr>
          <p:cNvSpPr/>
          <p:nvPr/>
        </p:nvSpPr>
        <p:spPr>
          <a:xfrm>
            <a:off x="-21776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6B007B"/>
                </a:solidFill>
              </a:rPr>
              <a:t>Atliq </a:t>
            </a:r>
            <a:r>
              <a:rPr dirty="0">
                <a:solidFill>
                  <a:srgbClr val="6B007B"/>
                </a:solidFill>
              </a:rPr>
              <a:t>Hotel </a:t>
            </a:r>
            <a:br>
              <a:rPr lang="en-US" dirty="0">
                <a:solidFill>
                  <a:srgbClr val="6B007B"/>
                </a:solidFill>
              </a:rPr>
            </a:br>
            <a:r>
              <a:rPr dirty="0">
                <a:solidFill>
                  <a:srgbClr val="6B007B"/>
                </a:solidFill>
              </a:rPr>
              <a:t>Performance &amp; Guest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	Team Members</a:t>
            </a:r>
          </a:p>
          <a:p>
            <a:pPr marL="0" indent="0">
              <a:buNone/>
            </a:pPr>
            <a:endParaRPr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rtl="0" fontAlgn="b" latinLnBrk="0"/>
            <a:r>
              <a:rPr lang="en-IN" sz="2200" dirty="0">
                <a:solidFill>
                  <a:srgbClr val="000000"/>
                </a:solidFill>
              </a:rPr>
              <a:t>Shraddha Mahavir Chandole</a:t>
            </a:r>
          </a:p>
          <a:p>
            <a:pPr fontAlgn="b"/>
            <a:r>
              <a:rPr lang="en-IN" sz="2200" dirty="0">
                <a:solidFill>
                  <a:srgbClr val="000000"/>
                </a:solidFill>
              </a:rPr>
              <a:t>Syed Safiya</a:t>
            </a:r>
          </a:p>
          <a:p>
            <a:pPr fontAlgn="b"/>
            <a:r>
              <a:rPr lang="en-IN" sz="2200" dirty="0">
                <a:solidFill>
                  <a:srgbClr val="000000"/>
                </a:solidFill>
              </a:rPr>
              <a:t>Rajdeep Anil Kudalkar</a:t>
            </a:r>
          </a:p>
          <a:p>
            <a:pPr fontAlgn="b"/>
            <a:r>
              <a:rPr lang="en-IN" sz="2200" dirty="0">
                <a:solidFill>
                  <a:srgbClr val="000000"/>
                </a:solidFill>
              </a:rPr>
              <a:t>Shakila Samsher Ali</a:t>
            </a:r>
          </a:p>
          <a:p>
            <a:pPr fontAlgn="b"/>
            <a:r>
              <a:rPr lang="en-IN" sz="2200" dirty="0">
                <a:solidFill>
                  <a:srgbClr val="000000"/>
                </a:solidFill>
              </a:rPr>
              <a:t>Salim Bilal Sayyed</a:t>
            </a:r>
          </a:p>
          <a:p>
            <a:pPr fontAlgn="b"/>
            <a:r>
              <a:rPr lang="en-IN" sz="2200" dirty="0">
                <a:solidFill>
                  <a:srgbClr val="000000"/>
                </a:solidFill>
              </a:rPr>
              <a:t>Dokka Jashuva Daniel</a:t>
            </a:r>
          </a:p>
          <a:p>
            <a:pPr fontAlgn="b"/>
            <a:r>
              <a:rPr lang="en-IN" sz="2200" dirty="0">
                <a:solidFill>
                  <a:srgbClr val="000000"/>
                </a:solidFill>
              </a:rPr>
              <a:t>Samstabraj khan</a:t>
            </a:r>
          </a:p>
          <a:p>
            <a:pPr fontAlgn="b"/>
            <a:endParaRPr lang="en-IN" sz="1800" dirty="0">
              <a:latin typeface="Calibri" panose="020F0502020204030204" pitchFamily="34" charset="0"/>
            </a:endParaRPr>
          </a:p>
          <a:p>
            <a:pPr marL="0" indent="0" algn="ctr" fontAlgn="b">
              <a:buNone/>
            </a:pPr>
            <a:r>
              <a:rPr lang="en-IN" sz="2000" b="1" dirty="0">
                <a:effectLst/>
                <a:latin typeface="Calibri" panose="020F0502020204030204" pitchFamily="34" charset="0"/>
              </a:rPr>
              <a:t>Team Would Like to Thank</a:t>
            </a:r>
          </a:p>
          <a:p>
            <a:pPr marL="0" indent="0" algn="ctr" fontAlgn="b">
              <a:buNone/>
            </a:pPr>
            <a:r>
              <a:rPr lang="en-IN" sz="2000" b="1" dirty="0">
                <a:latin typeface="Calibri" panose="020F0502020204030204" pitchFamily="34" charset="0"/>
              </a:rPr>
              <a:t>Abirami R for Guidance throughout Project building process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8736-CBBF-3B53-83B5-D1BE28C6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042226-8E48-5A2C-99BC-86C021E8B489}"/>
              </a:ext>
            </a:extLst>
          </p:cNvPr>
          <p:cNvSpPr/>
          <p:nvPr/>
        </p:nvSpPr>
        <p:spPr>
          <a:xfrm>
            <a:off x="-21776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6"/>
            <a:ext cx="8229600" cy="114300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N" sz="3200" b="1" dirty="0">
                <a:solidFill>
                  <a:srgbClr val="6B007B"/>
                </a:solidFill>
              </a:rPr>
              <a:t>Introduction</a:t>
            </a:r>
            <a:endParaRPr sz="3200" b="1" dirty="0">
              <a:solidFill>
                <a:srgbClr val="6B007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200" dirty="0"/>
              <a:t>Our team analyzed </a:t>
            </a:r>
            <a:r>
              <a:rPr lang="en-IN" sz="2200" dirty="0"/>
              <a:t>Atliq Hotels</a:t>
            </a:r>
            <a:r>
              <a:rPr lang="en-US" sz="2200" dirty="0"/>
              <a:t>’s </a:t>
            </a:r>
            <a:r>
              <a:rPr lang="en-US" sz="2200" b="1" dirty="0"/>
              <a:t>business performance, guest booking behavior, platform dependency, and customer satisfaction</a:t>
            </a:r>
            <a:r>
              <a:rPr lang="en-US" sz="2200" dirty="0"/>
              <a:t> to identify opportunities for revenue growth and operational excellence.</a:t>
            </a:r>
            <a:br>
              <a:rPr lang="en-US" sz="2200" dirty="0"/>
            </a:br>
            <a:r>
              <a:rPr lang="en-US" sz="2200" dirty="0"/>
              <a:t>This presentation focuses on </a:t>
            </a:r>
            <a:r>
              <a:rPr lang="en-US" sz="2200" b="1" dirty="0"/>
              <a:t>dashboard-driven insights and data-backed recommendations</a:t>
            </a:r>
            <a:r>
              <a:rPr lang="en-US" sz="2200" dirty="0"/>
              <a:t> to help Atliq Hotels strengthen its market position while improving accessibility and user-centric dashboard design.</a:t>
            </a:r>
            <a:endParaRPr lang="en-IN" sz="2200" b="1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41306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0388736-CBBF-3B53-83B5-D1BE28C6B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3042226-8E48-5A2C-99BC-86C021E8B489}"/>
              </a:ext>
            </a:extLst>
          </p:cNvPr>
          <p:cNvSpPr/>
          <p:nvPr/>
        </p:nvSpPr>
        <p:spPr>
          <a:xfrm>
            <a:off x="-21776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8436"/>
            <a:ext cx="8229600" cy="114300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N" sz="3200" b="1" dirty="0">
                <a:solidFill>
                  <a:srgbClr val="6B007B"/>
                </a:solidFill>
              </a:rPr>
              <a:t>Business</a:t>
            </a:r>
            <a:r>
              <a:rPr lang="en-IN" sz="1600" dirty="0"/>
              <a:t> </a:t>
            </a:r>
            <a:r>
              <a:rPr lang="en-IN" sz="3200" b="1" dirty="0">
                <a:solidFill>
                  <a:srgbClr val="6B007B"/>
                </a:solidFill>
              </a:rPr>
              <a:t>Objective</a:t>
            </a:r>
            <a:endParaRPr sz="3200" b="1" dirty="0">
              <a:solidFill>
                <a:srgbClr val="6B007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/>
              <a:t>The dashboard analysis aims to support Atliq Hotels in achieving the following strategic objectives:</a:t>
            </a:r>
          </a:p>
          <a:p>
            <a:pPr algn="just"/>
            <a:r>
              <a:rPr lang="en-US" sz="2400" b="1" dirty="0"/>
              <a:t>Enhance Revenue &amp; Profitability</a:t>
            </a:r>
            <a:endParaRPr lang="en-US" sz="2400" dirty="0"/>
          </a:p>
          <a:p>
            <a:pPr algn="just"/>
            <a:r>
              <a:rPr lang="en-US" sz="2400" b="1" dirty="0"/>
              <a:t>Reduce OTA Dependency &amp; Boost Direct Bookings</a:t>
            </a:r>
            <a:endParaRPr lang="en-US" sz="2400" dirty="0"/>
          </a:p>
          <a:p>
            <a:pPr algn="just"/>
            <a:r>
              <a:rPr lang="en-US" sz="2400" b="1" dirty="0"/>
              <a:t>Improve Guest Experience &amp; Ratings</a:t>
            </a:r>
            <a:endParaRPr lang="en-US" sz="2400" dirty="0"/>
          </a:p>
          <a:p>
            <a:pPr algn="just"/>
            <a:r>
              <a:rPr lang="en-US" sz="2400" b="1" dirty="0"/>
              <a:t>Optimize Property Performance</a:t>
            </a:r>
            <a:endParaRPr lang="en-US" sz="2400" dirty="0"/>
          </a:p>
          <a:p>
            <a:pPr algn="just"/>
            <a:r>
              <a:rPr lang="en-US" sz="2400" b="1" dirty="0"/>
              <a:t>Support Strategic Growth &amp; Expansion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79007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8552FB-BA99-08DB-617C-B7BB022AE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6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2C9D8CE-4514-5776-7680-BBCE7209BBF8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0" y="78695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3600" b="1" dirty="0">
                <a:solidFill>
                  <a:srgbClr val="6B007B"/>
                </a:solidFill>
              </a:rPr>
              <a:t>Overall</a:t>
            </a:r>
            <a:r>
              <a:rPr dirty="0">
                <a:solidFill>
                  <a:srgbClr val="6B007B"/>
                </a:solidFill>
              </a:rPr>
              <a:t> Business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0" y="1600200"/>
            <a:ext cx="5301343" cy="4525963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endParaRPr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rgbClr val="000000"/>
                </a:solidFill>
              </a:rPr>
              <a:t>Strong </a:t>
            </a:r>
            <a:r>
              <a:rPr lang="en-US" dirty="0">
                <a:solidFill>
                  <a:srgbClr val="000000"/>
                </a:solidFill>
              </a:rPr>
              <a:t>R</a:t>
            </a:r>
            <a:r>
              <a:rPr dirty="0">
                <a:solidFill>
                  <a:srgbClr val="000000"/>
                </a:solidFill>
              </a:rPr>
              <a:t>evenue and ADR across all cities</a:t>
            </a:r>
            <a:r>
              <a:rPr lang="en-US" dirty="0">
                <a:solidFill>
                  <a:srgbClr val="000000"/>
                </a:solidFill>
              </a:rPr>
              <a:t> and Properties</a:t>
            </a:r>
            <a:endParaRPr dirty="0">
              <a:solidFill>
                <a:srgbClr val="000000"/>
              </a:solidFill>
            </a:endParaRPr>
          </a:p>
          <a:p>
            <a:pPr>
              <a:lnSpc>
                <a:spcPct val="150000"/>
              </a:lnSpc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000000"/>
                </a:solidFill>
              </a:rPr>
              <a:t>Healthy Average RevPAR across all cities and Properties</a:t>
            </a:r>
          </a:p>
          <a:p>
            <a:pPr>
              <a:lnSpc>
                <a:spcPct val="150000"/>
              </a:lnSpc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rgbClr val="000000"/>
                </a:solidFill>
              </a:rPr>
              <a:t>Overall occupancy at 58%, below target</a:t>
            </a:r>
          </a:p>
          <a:p>
            <a:pPr>
              <a:lnSpc>
                <a:spcPct val="150000"/>
              </a:lnSpc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rgbClr val="000000"/>
                </a:solidFill>
              </a:rPr>
              <a:t>Need to optimize utilization across metros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341BA35-1906-BAB9-3309-5B13E0D56650}"/>
              </a:ext>
            </a:extLst>
          </p:cNvPr>
          <p:cNvSpPr/>
          <p:nvPr/>
        </p:nvSpPr>
        <p:spPr>
          <a:xfrm>
            <a:off x="5464624" y="1192172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DE0FAC94-1908-2F05-50BE-E5C4AB9D3DA6}"/>
              </a:ext>
            </a:extLst>
          </p:cNvPr>
          <p:cNvSpPr/>
          <p:nvPr/>
        </p:nvSpPr>
        <p:spPr>
          <a:xfrm>
            <a:off x="5470059" y="2557269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DF71245E-B915-8C83-924C-13F8BA828F58}"/>
              </a:ext>
            </a:extLst>
          </p:cNvPr>
          <p:cNvSpPr/>
          <p:nvPr/>
        </p:nvSpPr>
        <p:spPr>
          <a:xfrm>
            <a:off x="5459179" y="3922871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CF4CBDF4-F6CF-FE4D-B302-99B5505D0205}"/>
              </a:ext>
            </a:extLst>
          </p:cNvPr>
          <p:cNvSpPr/>
          <p:nvPr/>
        </p:nvSpPr>
        <p:spPr>
          <a:xfrm>
            <a:off x="5470057" y="5315362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1FDDAD-6163-A2B6-552B-0D59751C221E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-1" r="75358"/>
          <a:stretch/>
        </p:blipFill>
        <p:spPr>
          <a:xfrm>
            <a:off x="6183076" y="1557438"/>
            <a:ext cx="2253343" cy="53746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163DC2-103A-62C0-73F1-123D06D4FEF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25714" r="48810"/>
          <a:stretch/>
        </p:blipFill>
        <p:spPr>
          <a:xfrm>
            <a:off x="6188648" y="2923068"/>
            <a:ext cx="2253600" cy="5364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390981C-583C-FBA4-F917-11EEFE0B57B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52143" t="2727" r="25833" b="-2728"/>
          <a:stretch/>
        </p:blipFill>
        <p:spPr>
          <a:xfrm>
            <a:off x="6188648" y="4288670"/>
            <a:ext cx="2253600" cy="536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74D5D94-7FDF-D496-9634-F07C71BCD47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74702"/>
          <a:stretch/>
        </p:blipFill>
        <p:spPr>
          <a:xfrm>
            <a:off x="6259533" y="5681161"/>
            <a:ext cx="2253600" cy="536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9B4C0B1-1EDF-0728-A70B-DFC294286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7EC6A02-38AE-9285-E426-6BD359C376E7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Shape 3">
            <a:extLst>
              <a:ext uri="{FF2B5EF4-FFF2-40B4-BE49-F238E27FC236}">
                <a16:creationId xmlns:a16="http://schemas.microsoft.com/office/drawing/2014/main" id="{5E023F41-2FB2-6815-B3A2-A36977A73BC2}"/>
              </a:ext>
            </a:extLst>
          </p:cNvPr>
          <p:cNvSpPr/>
          <p:nvPr/>
        </p:nvSpPr>
        <p:spPr>
          <a:xfrm>
            <a:off x="5715000" y="1415140"/>
            <a:ext cx="3407231" cy="5388432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D51B6F37-8113-6BC7-A4E1-1BF993996A8A}"/>
              </a:ext>
            </a:extLst>
          </p:cNvPr>
          <p:cNvSpPr/>
          <p:nvPr/>
        </p:nvSpPr>
        <p:spPr>
          <a:xfrm>
            <a:off x="87085" y="4724399"/>
            <a:ext cx="9056915" cy="2079173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805"/>
            <a:ext cx="8229600" cy="626383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6B007B"/>
                </a:solidFill>
              </a:rPr>
              <a:t>Mumbai Performance (Leader 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086" y="1600200"/>
            <a:ext cx="5302800" cy="4525963"/>
          </a:xfrm>
        </p:spPr>
        <p:txBody>
          <a:bodyPr>
            <a:norm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rgbClr val="000000"/>
                </a:solidFill>
              </a:rPr>
              <a:t>39% of total revenue (highest)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rgbClr val="000000"/>
                </a:solidFill>
              </a:rPr>
              <a:t>Exotica, Blu, Palace driving RevPAR ~₹9K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rgbClr val="000000"/>
                </a:solidFill>
              </a:rPr>
              <a:t>Most hotels &gt;50% occupancy; Bay &amp; Seasons ~45%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rgbClr val="000000"/>
                </a:solidFill>
              </a:rPr>
              <a:t>Strong revenue, occupancy improvement needed</a:t>
            </a: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27B1724D-31EF-BF86-6090-CAA51C4B6E2D}"/>
              </a:ext>
            </a:extLst>
          </p:cNvPr>
          <p:cNvSpPr/>
          <p:nvPr/>
        </p:nvSpPr>
        <p:spPr>
          <a:xfrm>
            <a:off x="87086" y="688294"/>
            <a:ext cx="9046023" cy="737735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4C3A4-BCEF-EF58-D431-DCB4688041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29" y="783177"/>
            <a:ext cx="8926285" cy="544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69B34FD-127A-153F-1EDE-C0C156FEE87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4286" t="51728" b="1"/>
          <a:stretch/>
        </p:blipFill>
        <p:spPr>
          <a:xfrm>
            <a:off x="130629" y="4989863"/>
            <a:ext cx="8926285" cy="17567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C61DE69-C765-0D9C-2FCE-C634AB5C33D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1729" r="66310"/>
          <a:stretch/>
        </p:blipFill>
        <p:spPr>
          <a:xfrm>
            <a:off x="5976257" y="3219768"/>
            <a:ext cx="3080657" cy="175678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55CC93-0052-469A-1AB4-B4CD2A204B2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r="64058" b="51729"/>
          <a:stretch/>
        </p:blipFill>
        <p:spPr>
          <a:xfrm>
            <a:off x="5975314" y="1439009"/>
            <a:ext cx="3081600" cy="17567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34323B-2DE0-4330-33BA-31DC179DA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0B770A6-63F7-A9E7-EB63-B8103C7A19E6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6567" y="57265"/>
            <a:ext cx="8469086" cy="60041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6B007B"/>
                </a:solidFill>
              </a:rPr>
              <a:t>Bangalore Performance (Under-Utilized 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68" y="1600200"/>
            <a:ext cx="5302800" cy="4525963"/>
          </a:xfrm>
        </p:spPr>
        <p:txBody>
          <a:bodyPr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~₹420M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Bay, City, Blue performing well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Grands underperforms across metrics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Lowest occupancy at 56%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Focus on improving utilization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3F25DB33-A2B6-61A0-0CCA-1F6CDF7EC158}"/>
              </a:ext>
            </a:extLst>
          </p:cNvPr>
          <p:cNvSpPr/>
          <p:nvPr/>
        </p:nvSpPr>
        <p:spPr>
          <a:xfrm>
            <a:off x="87087" y="688297"/>
            <a:ext cx="9035144" cy="738000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320C7D-45A4-07FA-1FE4-FDD6EFFA5973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3" y="779919"/>
            <a:ext cx="8911909" cy="543600"/>
          </a:xfrm>
          <a:prstGeom prst="rect">
            <a:avLst/>
          </a:prstGeom>
        </p:spPr>
      </p:pic>
      <p:sp>
        <p:nvSpPr>
          <p:cNvPr id="12" name="Shape 3">
            <a:extLst>
              <a:ext uri="{FF2B5EF4-FFF2-40B4-BE49-F238E27FC236}">
                <a16:creationId xmlns:a16="http://schemas.microsoft.com/office/drawing/2014/main" id="{1A0CF788-7ECE-E991-36C2-BCBF0D6F02B0}"/>
              </a:ext>
            </a:extLst>
          </p:cNvPr>
          <p:cNvSpPr/>
          <p:nvPr/>
        </p:nvSpPr>
        <p:spPr>
          <a:xfrm>
            <a:off x="5715000" y="1415140"/>
            <a:ext cx="3407231" cy="5388432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4EC33BC5-0E40-D947-EB25-7E33C8D4A527}"/>
              </a:ext>
            </a:extLst>
          </p:cNvPr>
          <p:cNvSpPr/>
          <p:nvPr/>
        </p:nvSpPr>
        <p:spPr>
          <a:xfrm>
            <a:off x="87087" y="4724399"/>
            <a:ext cx="9056914" cy="2079173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F27EF75-8AF5-AD2E-40BA-9D2A91012345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t="52079" r="66071"/>
          <a:stretch/>
        </p:blipFill>
        <p:spPr>
          <a:xfrm>
            <a:off x="5964427" y="3200497"/>
            <a:ext cx="3081600" cy="17568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8B44B78-11F1-5FFD-26F3-0F89377BC574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l="34166" t="52078"/>
          <a:stretch/>
        </p:blipFill>
        <p:spPr>
          <a:xfrm>
            <a:off x="128913" y="4973975"/>
            <a:ext cx="8928000" cy="17568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211E90-9D60-33B5-8268-E25D7477CC2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t="1" r="64166" b="50173"/>
          <a:stretch/>
        </p:blipFill>
        <p:spPr>
          <a:xfrm>
            <a:off x="5959223" y="1421708"/>
            <a:ext cx="3081600" cy="175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34BC6E-E25A-4E1A-6554-46DE555F6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1D8C12F-0093-70F8-008B-63364EE7CD37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804"/>
            <a:ext cx="8229600" cy="622530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6B007B"/>
                </a:solidFill>
              </a:rPr>
              <a:t>Hyderabad Performance (Balanced Performer)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70" y="1600200"/>
            <a:ext cx="5302800" cy="4525963"/>
          </a:xfrm>
        </p:spPr>
        <p:txBody>
          <a:bodyPr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₹325M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Bay, City, Blue strong; Grands weak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Lowest RevPAR ₹5.41K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Occupancy 61% (2nd highest)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A78AA028-D5F9-6BD2-A014-8CB2866ABE2F}"/>
              </a:ext>
            </a:extLst>
          </p:cNvPr>
          <p:cNvSpPr/>
          <p:nvPr/>
        </p:nvSpPr>
        <p:spPr>
          <a:xfrm>
            <a:off x="87086" y="688291"/>
            <a:ext cx="9046023" cy="738000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8D8F162-94AD-42A4-CBD0-414178476037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8000" y="786512"/>
            <a:ext cx="8928000" cy="543600"/>
          </a:xfrm>
          <a:prstGeom prst="rect">
            <a:avLst/>
          </a:prstGeom>
        </p:spPr>
      </p:pic>
      <p:sp>
        <p:nvSpPr>
          <p:cNvPr id="10" name="Shape 3">
            <a:extLst>
              <a:ext uri="{FF2B5EF4-FFF2-40B4-BE49-F238E27FC236}">
                <a16:creationId xmlns:a16="http://schemas.microsoft.com/office/drawing/2014/main" id="{AB35B13A-8FA5-9AFC-E1D7-3DB6A1FB25D1}"/>
              </a:ext>
            </a:extLst>
          </p:cNvPr>
          <p:cNvSpPr/>
          <p:nvPr/>
        </p:nvSpPr>
        <p:spPr>
          <a:xfrm>
            <a:off x="5715000" y="1415140"/>
            <a:ext cx="3407231" cy="5388432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D67E875-8A3F-B5F9-2F05-A6AA4259463A}"/>
              </a:ext>
            </a:extLst>
          </p:cNvPr>
          <p:cNvSpPr/>
          <p:nvPr/>
        </p:nvSpPr>
        <p:spPr>
          <a:xfrm>
            <a:off x="87085" y="4724399"/>
            <a:ext cx="9056915" cy="2079173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99E0ADA-B64F-3C43-F51B-56E05E62954A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t="52081" r="66786"/>
          <a:stretch/>
        </p:blipFill>
        <p:spPr>
          <a:xfrm>
            <a:off x="5968283" y="3229106"/>
            <a:ext cx="3081600" cy="172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3A22FF-FCD8-CB43-7B67-B7293579E29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l="34047" t="52667"/>
          <a:stretch/>
        </p:blipFill>
        <p:spPr>
          <a:xfrm>
            <a:off x="128915" y="4991000"/>
            <a:ext cx="8928000" cy="175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61C9C0A-0949-A98E-7BE9-B2A6D8AADFF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r="64643" b="50173"/>
          <a:stretch/>
        </p:blipFill>
        <p:spPr>
          <a:xfrm>
            <a:off x="5964430" y="1438412"/>
            <a:ext cx="3081600" cy="1756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C6FA14-E380-CF45-B450-EDC24887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29AAF-76B9-3F46-2B8E-41213D8EA305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809"/>
            <a:ext cx="8229600" cy="593725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6B007B"/>
                </a:solidFill>
              </a:rPr>
              <a:t>Delhi Performance (High-Growth Market)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69" y="1600200"/>
            <a:ext cx="5302800" cy="4525963"/>
          </a:xfrm>
        </p:spPr>
        <p:txBody>
          <a:bodyPr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₹295M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Palace, Blue, Bay leading metrics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RevPAR ₹7.36K; highest occupancy ~65%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Balanced room class demand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Expansion potential in business segment</a:t>
            </a:r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E5A7D9AB-47AC-F10A-B63A-7F9A43091047}"/>
              </a:ext>
            </a:extLst>
          </p:cNvPr>
          <p:cNvSpPr/>
          <p:nvPr/>
        </p:nvSpPr>
        <p:spPr>
          <a:xfrm>
            <a:off x="87087" y="677411"/>
            <a:ext cx="9035144" cy="738000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B34B17B-D8D3-B302-E68C-E371D27AD7A7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28915" y="772586"/>
            <a:ext cx="8917115" cy="543600"/>
          </a:xfrm>
          <a:prstGeom prst="rect">
            <a:avLst/>
          </a:prstGeom>
        </p:spPr>
      </p:pic>
      <p:sp>
        <p:nvSpPr>
          <p:cNvPr id="10" name="Shape 3">
            <a:extLst>
              <a:ext uri="{FF2B5EF4-FFF2-40B4-BE49-F238E27FC236}">
                <a16:creationId xmlns:a16="http://schemas.microsoft.com/office/drawing/2014/main" id="{6042B2DF-EA3A-A44B-CD54-AD5E60539CD5}"/>
              </a:ext>
            </a:extLst>
          </p:cNvPr>
          <p:cNvSpPr/>
          <p:nvPr/>
        </p:nvSpPr>
        <p:spPr>
          <a:xfrm>
            <a:off x="5715000" y="1415140"/>
            <a:ext cx="3407231" cy="5388432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626E3A89-DD93-8BCC-1E64-8257922D635A}"/>
              </a:ext>
            </a:extLst>
          </p:cNvPr>
          <p:cNvSpPr/>
          <p:nvPr/>
        </p:nvSpPr>
        <p:spPr>
          <a:xfrm>
            <a:off x="87085" y="4724399"/>
            <a:ext cx="9056916" cy="2079173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87A0CFC-3B19-C8DE-3922-BECA966C8CB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t="50695" r="66786"/>
          <a:stretch/>
        </p:blipFill>
        <p:spPr>
          <a:xfrm>
            <a:off x="5964431" y="3215484"/>
            <a:ext cx="3081600" cy="17568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883DD3E-BBA2-8C78-F1B2-0DB6FCAF7D79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l="33929" t="51611"/>
          <a:stretch/>
        </p:blipFill>
        <p:spPr>
          <a:xfrm>
            <a:off x="128915" y="5004940"/>
            <a:ext cx="8928000" cy="1756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289D781-A633-60BD-9AE7-7C356B95FA06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"/>
          <a:srcRect r="63810" b="50695"/>
          <a:stretch/>
        </p:blipFill>
        <p:spPr>
          <a:xfrm>
            <a:off x="5964431" y="1431288"/>
            <a:ext cx="3081600" cy="175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0C6FA14-E380-CF45-B450-EDC24887DC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29AAF-76B9-3F46-2B8E-41213D8EA305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0" y="101716"/>
            <a:ext cx="8229600" cy="114300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IN" sz="3600" b="1" dirty="0">
                <a:solidFill>
                  <a:srgbClr val="6B007B"/>
                </a:solidFill>
              </a:rPr>
              <a:t>Key KPI Overview</a:t>
            </a:r>
            <a:endParaRPr sz="3600" b="1" dirty="0">
              <a:solidFill>
                <a:srgbClr val="6B007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969" y="1600200"/>
            <a:ext cx="5302800" cy="5257800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Total Bookings: 134.59K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Cancellation %: 24.83%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No-Show %: 5.02%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ASD: 2.4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Overall booking activity is strong, but cancellations remain high.</a:t>
            </a:r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CE9D8F93-1334-66D6-CDDE-76DB5BDC87FE}"/>
              </a:ext>
            </a:extLst>
          </p:cNvPr>
          <p:cNvSpPr/>
          <p:nvPr/>
        </p:nvSpPr>
        <p:spPr>
          <a:xfrm>
            <a:off x="5464624" y="1192172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8F319DB8-F8F1-D21F-3B0E-ED19AFFD9A51}"/>
              </a:ext>
            </a:extLst>
          </p:cNvPr>
          <p:cNvSpPr/>
          <p:nvPr/>
        </p:nvSpPr>
        <p:spPr>
          <a:xfrm>
            <a:off x="5470059" y="2557269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51401DD3-04AB-C762-4330-C57D2941924C}"/>
              </a:ext>
            </a:extLst>
          </p:cNvPr>
          <p:cNvSpPr/>
          <p:nvPr/>
        </p:nvSpPr>
        <p:spPr>
          <a:xfrm>
            <a:off x="5459179" y="3922871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13" name="Shape 3">
            <a:extLst>
              <a:ext uri="{FF2B5EF4-FFF2-40B4-BE49-F238E27FC236}">
                <a16:creationId xmlns:a16="http://schemas.microsoft.com/office/drawing/2014/main" id="{F06D9C06-1BF3-36A8-8D1F-D3E1FDB4B6C3}"/>
              </a:ext>
            </a:extLst>
          </p:cNvPr>
          <p:cNvSpPr/>
          <p:nvPr/>
        </p:nvSpPr>
        <p:spPr>
          <a:xfrm>
            <a:off x="5470057" y="5315362"/>
            <a:ext cx="3657607" cy="1267999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3864BB0-EB16-33DB-7D9D-6B8D51AE0FAC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75952" b="2339"/>
          <a:stretch/>
        </p:blipFill>
        <p:spPr>
          <a:xfrm>
            <a:off x="6161182" y="5681161"/>
            <a:ext cx="2253600" cy="5364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EC526F5-CAD3-2AA1-A235-4BFDAFFBAF9B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50000" r="25119" b="2339"/>
          <a:stretch/>
        </p:blipFill>
        <p:spPr>
          <a:xfrm>
            <a:off x="6172060" y="4288895"/>
            <a:ext cx="2253600" cy="535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BC4087C-AC80-9D6D-45CE-7EB1FC27CEEF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l="25000" r="50119"/>
          <a:stretch/>
        </p:blipFill>
        <p:spPr>
          <a:xfrm>
            <a:off x="6172060" y="2923321"/>
            <a:ext cx="2253600" cy="536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661230F-6566-5E80-5A86-C5FA425F35CD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3"/>
          <a:srcRect r="75238"/>
          <a:stretch/>
        </p:blipFill>
        <p:spPr>
          <a:xfrm>
            <a:off x="6166745" y="1549160"/>
            <a:ext cx="2253600" cy="53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488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C1289A-D6B0-0805-C383-5ADF5A920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127261-5A35-7E95-C758-E2D2974342CA}"/>
              </a:ext>
            </a:extLst>
          </p:cNvPr>
          <p:cNvSpPr/>
          <p:nvPr/>
        </p:nvSpPr>
        <p:spPr>
          <a:xfrm>
            <a:off x="-10890" y="-65314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8590ED3-9FB1-6902-B62F-816527A4F330}"/>
              </a:ext>
            </a:extLst>
          </p:cNvPr>
          <p:cNvSpPr/>
          <p:nvPr/>
        </p:nvSpPr>
        <p:spPr>
          <a:xfrm>
            <a:off x="5715000" y="1415140"/>
            <a:ext cx="3407231" cy="2786746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CBE36299-95C6-3B72-9887-63DD74E5DCCC}"/>
              </a:ext>
            </a:extLst>
          </p:cNvPr>
          <p:cNvSpPr/>
          <p:nvPr/>
        </p:nvSpPr>
        <p:spPr>
          <a:xfrm>
            <a:off x="87085" y="4201886"/>
            <a:ext cx="9056916" cy="2601687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0" y="41445"/>
            <a:ext cx="8229600" cy="114300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6B007B"/>
                </a:solidFill>
              </a:rPr>
              <a:t>Bookings </a:t>
            </a:r>
            <a:r>
              <a:rPr lang="en-IN" sz="3600" b="1" dirty="0">
                <a:solidFill>
                  <a:srgbClr val="6B007B"/>
                </a:solidFill>
              </a:rPr>
              <a:t>Volume</a:t>
            </a:r>
            <a:r>
              <a:rPr lang="en-IN" dirty="0"/>
              <a:t> </a:t>
            </a:r>
            <a:r>
              <a:rPr dirty="0">
                <a:solidFill>
                  <a:srgbClr val="6B007B"/>
                </a:solidFill>
              </a:rPr>
              <a:t>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860" y="1262741"/>
            <a:ext cx="5562597" cy="4525963"/>
          </a:xfrm>
        </p:spPr>
        <p:txBody>
          <a:bodyPr>
            <a:normAutofit/>
          </a:bodyPr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Weekly check-outs stable around 4.7K – 4.9K.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Indicates consistent guest flow and strong operational throughput.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Weekday Bookings &gt; Weekend Bookings, resulting in more weekday revenue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02DB88-BD01-CF59-30DD-6F238DB70D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323" y="1871840"/>
            <a:ext cx="3333921" cy="18733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50C542A-BA5E-62CE-C02D-B63A64133B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97"/>
          <a:stretch/>
        </p:blipFill>
        <p:spPr>
          <a:xfrm>
            <a:off x="239486" y="4321630"/>
            <a:ext cx="8817428" cy="23885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C1289A-D6B0-0805-C383-5ADF5A920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6127261-5A35-7E95-C758-E2D2974342CA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4FF23A82-E816-2F5B-62C6-00E5950E5A5B}"/>
              </a:ext>
            </a:extLst>
          </p:cNvPr>
          <p:cNvSpPr/>
          <p:nvPr/>
        </p:nvSpPr>
        <p:spPr>
          <a:xfrm>
            <a:off x="10883" y="3113315"/>
            <a:ext cx="9122232" cy="3690258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0" y="78039"/>
            <a:ext cx="8229600" cy="653798"/>
          </a:xfrm>
        </p:spPr>
        <p:txBody>
          <a:bodyPr>
            <a:normAutofit fontScale="90000"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>
                <a:solidFill>
                  <a:srgbClr val="6B007B"/>
                </a:solidFill>
              </a:rPr>
              <a:t>Bookings </a:t>
            </a:r>
            <a:r>
              <a:rPr lang="en-IN" sz="3600" b="1" dirty="0">
                <a:solidFill>
                  <a:srgbClr val="6B007B"/>
                </a:solidFill>
              </a:rPr>
              <a:t>Channel Distribution</a:t>
            </a:r>
            <a:r>
              <a:rPr lang="en-IN" dirty="0">
                <a:solidFill>
                  <a:srgbClr val="6B007B"/>
                </a:solidFill>
              </a:rPr>
              <a:t> &amp;</a:t>
            </a:r>
            <a:r>
              <a:rPr lang="en-IN" sz="3600" b="1" dirty="0">
                <a:solidFill>
                  <a:srgbClr val="6B007B"/>
                </a:solidFill>
              </a:rPr>
              <a:t> </a:t>
            </a:r>
            <a:r>
              <a:rPr lang="en-IN" dirty="0">
                <a:solidFill>
                  <a:srgbClr val="6B007B"/>
                </a:solidFill>
              </a:rPr>
              <a:t>Cancellation</a:t>
            </a:r>
            <a:endParaRPr sz="3600" b="1" dirty="0">
              <a:solidFill>
                <a:srgbClr val="6B007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309" y="623073"/>
            <a:ext cx="8922268" cy="25253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Aggregators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/Third-Part bookings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 (Others) 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 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34K (40%)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OTAs: Make</a:t>
            </a: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Your</a:t>
            </a: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Trip 17K, LogTrip 9K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dirty="0">
                <a:solidFill>
                  <a:schemeClr val="tx1">
                    <a:lumMod val="95000"/>
                    <a:lumOff val="5000"/>
                  </a:schemeClr>
                </a:solidFill>
              </a:rPr>
              <a:t>Direct bookings low at 8K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Cancellation rate 24–25% across markets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Likely due to OTA reliance, flexible policies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endParaRPr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43613E9-82A0-24F2-7BBC-7AEAD5B0DEB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732977" y="3222079"/>
            <a:ext cx="4305600" cy="3492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41440D-3F76-A18D-B18D-F54033E06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91" y="3212206"/>
            <a:ext cx="4305053" cy="349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3537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393C19B-8C7C-24A3-727C-167EFFF5F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1F7AE12-A6F2-D3D8-E294-0D00C31333A4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2126BCE7-C13F-4E57-F661-BCC2110A0CB8}"/>
              </a:ext>
            </a:extLst>
          </p:cNvPr>
          <p:cNvSpPr/>
          <p:nvPr/>
        </p:nvSpPr>
        <p:spPr>
          <a:xfrm>
            <a:off x="10883" y="3113315"/>
            <a:ext cx="9122232" cy="3690258"/>
          </a:xfrm>
          <a:prstGeom prst="roundRect">
            <a:avLst>
              <a:gd name="adj" fmla="val 5777"/>
            </a:avLst>
          </a:prstGeom>
          <a:solidFill>
            <a:srgbClr val="F4D4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0" y="67809"/>
            <a:ext cx="8229600" cy="680360"/>
          </a:xfrm>
        </p:spPr>
        <p:txBody>
          <a:bodyPr>
            <a:norm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6B007B"/>
                </a:solidFill>
              </a:rPr>
              <a:t>Weekday vs Weekend &amp; </a:t>
            </a:r>
            <a:r>
              <a:rPr lang="en-IN" sz="3600" b="1" dirty="0">
                <a:solidFill>
                  <a:srgbClr val="6B007B"/>
                </a:solidFill>
              </a:rPr>
              <a:t>Ratings Overview</a:t>
            </a:r>
            <a:endParaRPr sz="3600" b="1" dirty="0">
              <a:solidFill>
                <a:srgbClr val="6B007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295" y="590117"/>
            <a:ext cx="8893630" cy="2523198"/>
          </a:xfrm>
        </p:spPr>
        <p:txBody>
          <a:bodyPr>
            <a:normAutofit fontScale="92500" lnSpcReduction="10000"/>
          </a:bodyPr>
          <a:lstStyle/>
          <a:p>
            <a:endParaRPr sz="2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Luxury leads: ₹660M weekday, ₹392M weekend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Business: ₹409M weekday, ₹246M weekend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Strong premium demand → expand high-end inventory</a:t>
            </a: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Average rating = 3 (moderate) across business &amp; luxury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Better ratings on weekdays vs weekends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rPr 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Weekend service drops due to operational strain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23B3C4-7627-1C87-982B-E0AE0B1073BD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5" y="3212444"/>
            <a:ext cx="4305600" cy="3492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BB970C9-9B57-F72A-6B32-31ECE00A53E4}"/>
              </a:ext>
            </a:extLst>
          </p:cNvPr>
          <p:cNvPicPr preferRelativeResize="0"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4702325" y="3212443"/>
            <a:ext cx="4305600" cy="349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6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5D0470-0B56-0E4A-DFCD-2F4C60E3A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197816C-B8E7-447B-F908-CAA0A854713B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0" y="78695"/>
            <a:ext cx="8229600" cy="664028"/>
          </a:xfrm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2900" dirty="0">
                <a:solidFill>
                  <a:srgbClr val="6B007B"/>
                </a:solidFill>
              </a:rPr>
              <a:t>Recommendations</a:t>
            </a:r>
            <a:r>
              <a:rPr lang="en-US" sz="2900" dirty="0">
                <a:solidFill>
                  <a:srgbClr val="6B007B"/>
                </a:solidFill>
              </a:rPr>
              <a:t>: </a:t>
            </a:r>
            <a:r>
              <a:rPr lang="en-US" sz="2900" b="1" dirty="0">
                <a:solidFill>
                  <a:srgbClr val="6B007B"/>
                </a:solidFill>
              </a:rPr>
              <a:t>Revenue Growth &amp; Business Expansion</a:t>
            </a:r>
            <a:endParaRPr sz="2900" b="1" dirty="0">
              <a:solidFill>
                <a:srgbClr val="6B007B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042" y="821419"/>
            <a:ext cx="8675916" cy="5957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Strengthen Direct Booking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OTA dependency high (40%+ from “Others”).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Improve direct website campaigns, loyalty programs, member-rates.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Reduce commission costs and build direct customer relationships.</a:t>
            </a:r>
          </a:p>
          <a:p>
            <a:pPr marL="0" indent="0">
              <a:buNone/>
            </a:pPr>
            <a:r>
              <a:rPr lang="en-US" sz="1900" b="1" dirty="0"/>
              <a:t>Dynamic Pricing &amp; Revenue Optimization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ADR strong across markets but occupancy low → adjust pricing.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Implement city-level dynamic pricing &amp; event-based surcharges.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Reduce unnecessary discounts during peak demand weeks.</a:t>
            </a:r>
          </a:p>
          <a:p>
            <a:pPr marL="0" indent="0">
              <a:buNone/>
            </a:pPr>
            <a:r>
              <a:rPr lang="en-US" sz="1900" b="1" dirty="0"/>
              <a:t>Expand Premium &amp; High-Demand Inventory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Luxury hotels deliver highest weekday/weekend revenue.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Consider expanding premium inventory and renovating high-revenue properties.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Support business-class hotels with enhanced amenities &amp; corporate packages.</a:t>
            </a:r>
          </a:p>
          <a:p>
            <a:pPr marL="0" indent="0">
              <a:buNone/>
            </a:pPr>
            <a:r>
              <a:rPr lang="en-US" sz="1900" b="1" dirty="0"/>
              <a:t>Strengthen Corporate Partnerships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ASD (2.7 days) indicates business-heavy demand.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Expand corporate tie-ups, long-stay packages, and conference offerings.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Key focus cities: </a:t>
            </a:r>
            <a:r>
              <a:rPr lang="en-US" sz="1900" b="1" dirty="0"/>
              <a:t>Delhi, Mumbai, Bangalore</a:t>
            </a:r>
            <a:r>
              <a:rPr lang="en-US" sz="1900"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3D64DCD-ACAF-1E67-AD5C-806158C80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37FE53-88D9-C4EA-E287-8E2CAFCC25F7}"/>
              </a:ext>
            </a:extLst>
          </p:cNvPr>
          <p:cNvSpPr/>
          <p:nvPr/>
        </p:nvSpPr>
        <p:spPr>
          <a:xfrm>
            <a:off x="-10890" y="-54428"/>
            <a:ext cx="9144000" cy="6858000"/>
          </a:xfrm>
          <a:prstGeom prst="rect">
            <a:avLst/>
          </a:prstGeom>
          <a:solidFill>
            <a:srgbClr val="FFFFFF">
              <a:alpha val="80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417C6DA-3262-D0C2-4077-776575AA2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0" y="78695"/>
            <a:ext cx="8229600" cy="664028"/>
          </a:xfrm>
        </p:spPr>
        <p:txBody>
          <a:bodyPr>
            <a:no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sz="2900" dirty="0">
                <a:solidFill>
                  <a:srgbClr val="6B007B"/>
                </a:solidFill>
              </a:rPr>
              <a:t>Recommendations</a:t>
            </a:r>
            <a:r>
              <a:rPr lang="en-US" sz="2900" dirty="0">
                <a:solidFill>
                  <a:srgbClr val="6B007B"/>
                </a:solidFill>
              </a:rPr>
              <a:t>: </a:t>
            </a:r>
            <a:r>
              <a:rPr lang="en-IN" sz="2900" b="1" dirty="0">
                <a:solidFill>
                  <a:srgbClr val="6B007B"/>
                </a:solidFill>
              </a:rPr>
              <a:t>Operational &amp; Service Excellence</a:t>
            </a:r>
            <a:endParaRPr sz="2900" b="1" dirty="0">
              <a:solidFill>
                <a:srgbClr val="6B007B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E06367D-C096-7144-2FA9-A829D739F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042" y="821419"/>
            <a:ext cx="8675916" cy="595788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900" b="1" dirty="0"/>
              <a:t>Improve Occupancy &amp; Property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Overall occupancy at </a:t>
            </a:r>
            <a:r>
              <a:rPr lang="en-US" sz="1900" b="1" dirty="0"/>
              <a:t>58%</a:t>
            </a:r>
            <a:r>
              <a:rPr lang="en-US" sz="1900" dirty="0"/>
              <a:t>—needs targeted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Focus on underperformers: </a:t>
            </a:r>
            <a:r>
              <a:rPr lang="en-US" sz="1900" b="1" dirty="0"/>
              <a:t>Grands</a:t>
            </a:r>
            <a:r>
              <a:rPr lang="en-US" sz="1900" dirty="0"/>
              <a:t>, </a:t>
            </a:r>
            <a:r>
              <a:rPr lang="en-US" sz="1900" b="1" dirty="0"/>
              <a:t>Bay</a:t>
            </a:r>
            <a:r>
              <a:rPr lang="en-US" sz="1900" dirty="0"/>
              <a:t>, </a:t>
            </a:r>
            <a:r>
              <a:rPr lang="en-US" sz="1900" b="1" dirty="0"/>
              <a:t>Seasons</a:t>
            </a:r>
            <a:r>
              <a:rPr lang="en-US" sz="1900" dirty="0"/>
              <a:t>, and select Mumbai/Bangalore properties.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Optimize room utilization strategies across metros.</a:t>
            </a:r>
          </a:p>
          <a:p>
            <a:pPr marL="0" indent="0">
              <a:buNone/>
            </a:pPr>
            <a:r>
              <a:rPr lang="en-US" sz="1900" b="1" dirty="0"/>
              <a:t>Enhance Guest Experience &amp; Ratings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Average rating = </a:t>
            </a:r>
            <a:r>
              <a:rPr lang="en-US" sz="1900" b="1" dirty="0"/>
              <a:t>3</a:t>
            </a:r>
            <a:r>
              <a:rPr lang="en-US" sz="1900" dirty="0"/>
              <a:t> (moderate) → service gaps.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Weekend service drop → strengthen weekend staffing &amp;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Implement real-time guest feedback and issue resolution.</a:t>
            </a:r>
          </a:p>
          <a:p>
            <a:pPr marL="0" indent="0">
              <a:buNone/>
            </a:pPr>
            <a:r>
              <a:rPr lang="en-US" sz="1900" b="1" dirty="0"/>
              <a:t>Address Cancellation &amp; No-Show Issues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Cancellation: </a:t>
            </a:r>
            <a:r>
              <a:rPr lang="en-US" sz="1900" b="1" dirty="0"/>
              <a:t>24–25%</a:t>
            </a:r>
            <a:r>
              <a:rPr lang="en-US" sz="1900" dirty="0"/>
              <a:t>; No-show: </a:t>
            </a:r>
            <a:r>
              <a:rPr lang="en-US" sz="1900" b="1" dirty="0"/>
              <a:t>5%</a:t>
            </a:r>
            <a:r>
              <a:rPr lang="en-US" sz="1900" dirty="0"/>
              <a:t> → systemic issue.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Tighten policies and encourage prepaid / non-refundable bookings.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Improve communication &amp; reminders, especially for OTA guests.</a:t>
            </a:r>
          </a:p>
          <a:p>
            <a:pPr marL="0" indent="0">
              <a:buNone/>
            </a:pPr>
            <a:r>
              <a:rPr lang="en-US" sz="1900" b="1" dirty="0"/>
              <a:t>Improve Weekend &amp; Leisure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Weekdays outperform weekends across all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Launch weekend packages, leisure bundles, event-based promotions.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dirty="0"/>
              <a:t>Aim to balance corporate-heavy demand with leisure-driven stays.</a:t>
            </a:r>
          </a:p>
        </p:txBody>
      </p:sp>
    </p:spTree>
    <p:extLst>
      <p:ext uri="{BB962C8B-B14F-4D97-AF65-F5344CB8AC3E}">
        <p14:creationId xmlns:p14="http://schemas.microsoft.com/office/powerpoint/2010/main" val="32852585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841</TotalTime>
  <Words>753</Words>
  <Application>Microsoft Office PowerPoint</Application>
  <PresentationFormat>On-screen Show (4:3)</PresentationFormat>
  <Paragraphs>115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Atliq Hotel  Performance &amp; Guest Behavior</vt:lpstr>
      <vt:lpstr>Introduction</vt:lpstr>
      <vt:lpstr>Business Objective</vt:lpstr>
      <vt:lpstr>Overall Business Performance</vt:lpstr>
      <vt:lpstr>Mumbai Performance (Leader Market)</vt:lpstr>
      <vt:lpstr>Bangalore Performance (Under-Utilized Market)</vt:lpstr>
      <vt:lpstr>Hyderabad Performance (Balanced Performer)</vt:lpstr>
      <vt:lpstr>Delhi Performance (High-Growth Market)</vt:lpstr>
      <vt:lpstr>Key KPI Overview</vt:lpstr>
      <vt:lpstr>Bookings Volume Behavior</vt:lpstr>
      <vt:lpstr>Bookings Channel Distribution &amp; Cancellation</vt:lpstr>
      <vt:lpstr>Weekday vs Weekend &amp; Ratings Overview</vt:lpstr>
      <vt:lpstr>Recommendations: Revenue Growth &amp; Business Expansion</vt:lpstr>
      <vt:lpstr>Recommendations: Operational &amp; Service Excellence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Hotel  Performance &amp; Guest Behavior</dc:title>
  <dc:subject/>
  <dc:creator/>
  <cp:keywords/>
  <dc:description>generated using python-pptx</dc:description>
  <cp:lastModifiedBy>Tabrej khan</cp:lastModifiedBy>
  <cp:revision>6</cp:revision>
  <dcterms:created xsi:type="dcterms:W3CDTF">2013-01-27T09:14:16Z</dcterms:created>
  <dcterms:modified xsi:type="dcterms:W3CDTF">2025-11-18T13:13:24Z</dcterms:modified>
  <cp:category/>
</cp:coreProperties>
</file>